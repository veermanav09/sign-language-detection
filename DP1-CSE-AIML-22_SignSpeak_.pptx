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4"/>
  </p:sldMasterIdLst>
  <p:notesMasterIdLst>
    <p:notesMasterId r:id="rId28"/>
  </p:notesMasterIdLst>
  <p:handoutMasterIdLst>
    <p:handoutMasterId r:id="rId29"/>
  </p:handoutMasterIdLst>
  <p:sldIdLst>
    <p:sldId id="507" r:id="rId5"/>
    <p:sldId id="1012" r:id="rId6"/>
    <p:sldId id="1037" r:id="rId7"/>
    <p:sldId id="1013" r:id="rId8"/>
    <p:sldId id="1014" r:id="rId9"/>
    <p:sldId id="1015" r:id="rId10"/>
    <p:sldId id="1034" r:id="rId11"/>
    <p:sldId id="1038" r:id="rId12"/>
    <p:sldId id="1036" r:id="rId13"/>
    <p:sldId id="1040" r:id="rId14"/>
    <p:sldId id="1026" r:id="rId15"/>
    <p:sldId id="1033" r:id="rId16"/>
    <p:sldId id="1011" r:id="rId17"/>
    <p:sldId id="1044" r:id="rId18"/>
    <p:sldId id="1045" r:id="rId19"/>
    <p:sldId id="1039" r:id="rId20"/>
    <p:sldId id="1046" r:id="rId21"/>
    <p:sldId id="1047" r:id="rId22"/>
    <p:sldId id="1041" r:id="rId23"/>
    <p:sldId id="1025" r:id="rId24"/>
    <p:sldId id="1035" r:id="rId25"/>
    <p:sldId id="1048" r:id="rId26"/>
    <p:sldId id="1049" r:id="rId2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85820B-F049-4CCA-98A7-9C01DD8341FB}" v="8" dt="2025-11-12T03:09:47.450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BC6A5-F5D8-82C0-F28F-C70BA469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548680"/>
            <a:ext cx="4032448" cy="1381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769" y="1930080"/>
            <a:ext cx="8534400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Team Members: 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defRPr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1. Veer Manav – 2023BCSE07AED131</a:t>
            </a: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2. Chris Varghese Mathew – 2023BCSE07AED205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Harshvardhan Shah – 2023BCSE07AED206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Purushottam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Medhe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– 2023LCSE07AED643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Name of the Mentor: Dr. K Madheswari</a:t>
            </a:r>
            <a:endParaRPr lang="en-IN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/>
              </a:rPr>
              <a:t>5CS1990 Design Project -1 </a:t>
            </a:r>
          </a:p>
          <a:p>
            <a:endParaRPr lang="en-IN" dirty="0"/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130770" y="784718"/>
            <a:ext cx="6449902" cy="11453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SignSpeak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: Autonomous Sign Language to Speech System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</a:pPr>
            <a:endParaRPr lang="en-IN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E0918-9E46-2259-4003-1C1F5C38D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320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serves as a vital mode of communication for the hearing- and speech-impaired community. However, the communication gap between sign language users and non-signers often leads to social and professional barriers.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bridge this gap, researchers have been exploring intelligent systems that can automatically interpret sign gestures and convert them into spoken language in real time.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Sign Language to Speech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hand pose estimation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leverages computer vision and machine learning techniques to recognize and translate hand gestures into speech output.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FC0D6-2631-0F18-519D-16E1DDCD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889040-27BC-97AB-C0AB-A0D163B5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D2816-DA5F-5B6F-2A1B-3F0F32F49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8CDC93-E6D0-8EAE-0729-D3119032E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320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2D approaches, 3D hand pose estimation captures depth information and spatial orientation of the fingers, palms, and joints, providing higher accuracy and robustness in gesture recognition.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advancement allows the system to handle variations in lighting, hand orientation, and complex finger movements more effectively.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64595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88E58-E75E-48AB-59FF-CADAC7590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949496"/>
              </p:ext>
            </p:extLst>
          </p:nvPr>
        </p:nvGraphicFramePr>
        <p:xfrm>
          <a:off x="427703" y="1135626"/>
          <a:ext cx="11425576" cy="486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906396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9337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S.No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Publication Year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Research/ Methodology 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129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Debashis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 Chakladar et al., </a:t>
                      </a:r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Sciences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(MDPI),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avatar–based system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converting speech/text into Indian Sign Language movements, with modules for speech-to-text, English-to-ISL translation via NLP, and avatar motion generation.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</a:t>
                      </a:r>
                      <a:r>
                        <a:rPr lang="es-E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Error </a:t>
                      </a:r>
                      <a:r>
                        <a:rPr lang="es-E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</a:t>
                      </a:r>
                      <a:r>
                        <a:rPr lang="es-E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(SER): </a:t>
                      </a:r>
                      <a:r>
                        <a:rPr lang="es-E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10.50</a:t>
                      </a:r>
                      <a:endParaRPr lang="es-E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sentence translation; efficient and visually expressive 3D avatar; faster rendering than 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ISL only; may not generalize across languages; lacks real-time speech synthesis and 3D pose estimation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111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Maksym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Ivashechkin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Oscar Mendez, Richard Bowden,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Forward Kinematics (FK)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neural networks to lift 2D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keypoint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detections into anatomically-valid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skeletal joint predictions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optimized via FK layer in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Outperforms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MediaPipe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more accurate per-joint positional error and visual quality; processes in 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100–200 </a:t>
                      </a:r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per image (CPU only)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and physically plausible 3D pose estimation; generalizes across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targeted to sign language specifically; works on single images only (not continuous gesture sequences)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129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Srujana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Gattupalli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Amir Ghaderi, Vassilis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Athitsos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a 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pose estimation dataset for Sign Language Recognition (SLR)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evaluated two deep learning–based pose estimation methods, including transfer learning improvements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baseline accuracy improvements through transfer learning (no precise numbers reported)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Establishes dataset and baseline for hand pose estimation in SLR; transfer learning enhances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color videos without depth; earlier deep models may be less accurate than newer 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hand pose estimation improves 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capturing depth and joint orientation, making gesture recognition more robust than 2D methods.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availability is limited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lack of diverse annotated sign language datasets reduces system generalization.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translation is challenging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high computational demands when combining gesture recognition with speech synthesis.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Language-specific limitations exist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most studies focus on a single sign language, restricting cross-lingual adaptability.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sign-to-speech systems are underexplored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most research addressing sign-to-text or sign recognition separately.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24A7D1-392B-981E-7690-910B41628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 diversity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requirements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isolated tasks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cross-lingual adaptability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testing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0B1F0-D8A2-D976-9BE1-AD0775496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barriers between the hearing/speech-impaired and non-signers lead to social and professional exclusion.</a:t>
            </a:r>
          </a:p>
          <a:p>
            <a:pPr algn="just"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solutions focus on text translation or limited gesture recognition but lack a complete real-time sign-to-speech system. Moreover, 2D recognition struggles with complex finger movements and orientation changes. </a:t>
            </a:r>
          </a:p>
          <a:p>
            <a:pPr algn="just"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system that uses 3D hand pose estimation to accurately recognize sign language gestures and convert them into speech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seamless interaction between signers and non-signers.</a:t>
            </a:r>
          </a:p>
          <a:p>
            <a:pPr>
              <a:spcAft>
                <a:spcPts val="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5DCC-A083-0CCB-F2FC-9DF8FF48D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B044D9-AF16-15BA-9EFE-9633D4A4E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building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converts sign language into speech using 3D hand pose estimation.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includes: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Hand Pose Estimation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Detecting and tracking hand joints in three dimensions for accurate gesture recognition.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Recognition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Classifying 3D poses into sign language symbols or words using AI models.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Sign-to-Speech Conversion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Translating recognized signs into natural speech output in real time.</a:t>
            </a:r>
          </a:p>
          <a:p>
            <a:pPr>
              <a:spcAft>
                <a:spcPts val="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882238-EAB2-BA9C-70F5-D41DB9E8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ABBCF-F1EA-EB67-8FE3-E755033F8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960037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to develop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capture, recognize, and translate sign language gestures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speech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hand pose estimation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AI-based recognition models. 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Capture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Hand Pose Estimation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Recognition Module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Sign-to-Speech Conversion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Deployment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not only bridges the communication gap but also offers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2D systems, as 3D pose estimation captures finger orientations, depth, and complex hand movements more effectively.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02A27-548C-EB9F-75AC-048696640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simple and effective system that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sign language gestures in real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camera.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hand 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even small finger movements and orientations are recognized correctly.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understand these gestures and convert them into meaningful words.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output feature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the recognized signs are spoken aloud for easy communication.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user-friendly, reliable, and helps bridge the gap between sign language users and non-signers.</a:t>
            </a:r>
          </a:p>
          <a:p>
            <a:pPr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Objectives / Solution as Design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2FD9CF-9FEC-A241-0CC4-FD113EF59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optimal real-time performance, the following hardware considerations are recommended:</a:t>
            </a:r>
          </a:p>
          <a:p>
            <a:pPr>
              <a:lnSpc>
                <a:spcPct val="120000"/>
              </a:lnSpc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Modern multi-core CPU (e.g., Intel i5/i7 or AMD Ryzen 5/7 equivalent or better) for efficient processing of video frames and model inferences.</a:t>
            </a:r>
          </a:p>
          <a:p>
            <a:pPr>
              <a:lnSpc>
                <a:spcPct val="120000"/>
              </a:lnSpc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Minimum 8GB RAM, with 16GB recommended for smoother operation, especially when running multiple applications.</a:t>
            </a:r>
          </a:p>
          <a:p>
            <a:pPr>
              <a:lnSpc>
                <a:spcPct val="120000"/>
              </a:lnSpc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Card (Optional but Recommended):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dedicated GPU (NVIDIA or AMD) can significantly accelerate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and model inference, though not strictly mandatory for basic functionality.</a:t>
            </a:r>
          </a:p>
          <a:p>
            <a:pPr>
              <a:lnSpc>
                <a:spcPct val="120000"/>
              </a:lnSpc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Webcam: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high-quality webcam (1080p recommended) with good lighting conditions is crucial for accurate hand detection.</a:t>
            </a:r>
          </a:p>
          <a:p>
            <a:pPr>
              <a:lnSpc>
                <a:spcPct val="120000"/>
              </a:lnSpc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Speakers: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audio output (speech synthesis) and effective user interaction.</a:t>
            </a:r>
          </a:p>
          <a:p>
            <a:pPr>
              <a:lnSpc>
                <a:spcPct val="120000"/>
              </a:lnSpc>
            </a:pPr>
            <a:endParaRPr lang="en-US" b="1" dirty="0"/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relies on a well-defined software stack for its functionality: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Cross-platform compatibility (Windows, macOS, Linux).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Version 3.8+ is required, managing all core logic and dependencies.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Libraries: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the neural network model and inference.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Flask: Powers the web interface for user interaction.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real-time hand tracking.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OpenCV: For camera access and video stream processing.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pyttsx3 or similar: For text-to-speech audio output.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Code: Development Tools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Environment: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Recommended practice to isolate project dependencies and avoid conflicts.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employs a robust, multi-stage pipeline for real-time sign language recognition: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Detection (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Utilizes Google's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highly accurate, real-time hand landmark detection from video input.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Converts the 21 hand landmarks (x, y coordinates) into a standardized numerical feature vector (42 coordinates).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Classification (Neural Network):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pre-trained neural network analyzes these features to classify the detected sign into defined categories.</a:t>
            </a:r>
          </a:p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Feedback (TTS):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Once a gesture is classified, it is immediately converted into spoken words using TTS, so the signer’s message is heard out loud.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The Recognition Pipeline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A5F9-9E94-0E40-2D67-E024511F3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338417-80D1-6C77-EC25-F409D8079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in a feature vector of 42 values representing 21 hand landmarks (x, y coordinates).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Layers: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dense layers process the data, with dropout regularization to avoid overfitting and improve generalization.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for multi-class classification, mapping input features to the correct sign category.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transfer learning from pre-trained models, fine-tuned specifically for sign language recognition tasks.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over 95% accuracy on test datasets with response times under 100 milliseconds, ensuring both speed and precision in real-time communication.</a:t>
            </a:r>
          </a:p>
          <a:p>
            <a:pPr>
              <a:spcAft>
                <a:spcPts val="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777EBC-B7B3-7D99-34CA-5946F306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Model Architecture &amp; Training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0793E-FFE8-94BE-0A1F-2F797A901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022754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EB286713-D2CA-0CC1-32DB-629DBC4F2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50"/>
          <a:stretch>
            <a:fillRect/>
          </a:stretch>
        </p:blipFill>
        <p:spPr>
          <a:xfrm>
            <a:off x="554437" y="1389888"/>
            <a:ext cx="11083126" cy="464515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Flow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421F7-34F6-B423-BD32-6AFD77324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30580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consists of four specialized modules working together for real-time sign language recognition: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Tracking Module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and extract 21 3D hand landmarks in real time.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foundation for feature generation.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Recognition Module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core classification logic using a pre-trained TensorFlow neural network.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hand features to accurately identify specific sign gestures.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Output Module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recognized signs into spoken words using text-to-speech (TTS) synthesis.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audible feedback.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688A92-D094-DFA8-C37F-55F638A10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B489-063F-F8C3-437E-26BC13377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D1622E-DCB3-C317-7F55-ACD383272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 startAt="4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Module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Flask-based web application for user interaction.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live video feed and recognized signs in real time.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camera input and coordinates the processing pipeline.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modular design ensures scalability, maintainability, and robust real-time performance for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SignSpeak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14922E-5E30-D4A4-32CF-A7261FD0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 (contd.)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E6924-355C-AD97-A5B6-F38785434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01953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stands out through several key innovations and integrated features:</a:t>
            </a: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End-to-End Solution: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instantaneous sign recognition from camera input to audio output, crucial for natural interaction.</a:t>
            </a:r>
          </a:p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Audio Feedback: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Unlike many recognition systems, the immediate audio pronunciation of recognized signs significantly enhances accessibility and learning.</a:t>
            </a:r>
          </a:p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Accessibility: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Flask web interface makes the system easily deployable and accessible via any web browser, without complex local software installations.</a:t>
            </a:r>
          </a:p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&amp; Extensible Architecture: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clear separation of concerns (hand tracking, recognition, UI) facilitates easy customization, addition of new signs, and future enhancements.</a:t>
            </a:r>
          </a:p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Performance-Optimized: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Achieves low latency (&lt;100ms) and high FPS (30+) for a fluid user experience, critical for real-time applications.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D81696-053B-0369-CCCB-94A69D7BF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SignSpeak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integrates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 tracking and neural network-based sign classification, all within an intuitive web interface for real-time interaction. The system achieves high accuracy and low latency, making sign-to-speech translation practical and accessible for everyone. Overall,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Signspeak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out as a robust and inclusive solution, effectively bridging communication gaps and empowering the speech-impaired community.</a:t>
            </a:r>
          </a:p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Sign Vocabulary: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train and add support for a broader range of ASL signs and regional variations.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Support: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Explore features for recognizing signs from multiple individuals simultaneously.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Contextual Understanding: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natural language processing (NLP) to understand sequences of signs and form sentences.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Development: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 the system for deployment on mobile devices for increased portability.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Mechanism for Learning: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features to provide real-time corrective feedback to users learning sign language.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EDFA5-D4F7-CF5E-05CA-F1D090EE9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7833"/>
            <a:ext cx="10972800" cy="522315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Debashis</a:t>
            </a: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Das Chakladar et al., Applied Sciences MDPI, 2021: 3D avatar-based sign language visualization and translation pipeline.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Maksym </a:t>
            </a:r>
            <a:r>
              <a:rPr lang="en-IN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Ivashechkin</a:t>
            </a: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Oscar Mendez, Richard Bowden, </a:t>
            </a:r>
            <a:r>
              <a:rPr lang="en-IN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2023: Neural and FK-based 3D hand pose estimation, outperforming </a:t>
            </a:r>
            <a:r>
              <a:rPr lang="en-IN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Srujana </a:t>
            </a:r>
            <a:r>
              <a:rPr lang="en-IN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Gattupalli</a:t>
            </a: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Amir Ghaderi, Vassilis </a:t>
            </a:r>
            <a:r>
              <a:rPr lang="en-IN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Athitsos</a:t>
            </a: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2016: Deep learning and transfer learning for pose estimation in sign language datasets.</a:t>
            </a:r>
          </a:p>
          <a:p>
            <a:pPr marL="0" indent="0">
              <a:buNone/>
            </a:pPr>
            <a:endParaRPr lang="en-IN" sz="1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Utilized technologies: 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robust and efficient real-time hand landmark detection.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Google AI, https://google.github.io/mediapipe/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TensorFlow/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building and training the neural network models.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Google Brain, https://www.tensorflow.org/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developing the lightweight web application framework.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Pallets, https://flask.palletsprojects.com/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Text-to-Speech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/pyttsx3):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converting recognized text into audio output.</a:t>
            </a:r>
            <a:endParaRPr lang="en-IN" sz="20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6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endParaRPr lang="en-IN" sz="180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DEA0B-E191-D187-0E57-F98A779E2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1078" y="2135605"/>
            <a:ext cx="3762531" cy="25867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SignSpeak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interface, showing real-time </a:t>
            </a:r>
          </a:p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status, </a:t>
            </a:r>
          </a:p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level, and </a:t>
            </a:r>
          </a:p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instructions.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1F53A-5C9D-7D94-E97B-625FD2C7C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06" y="1258761"/>
            <a:ext cx="6264399" cy="462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7006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C736-2A52-66F4-AA41-96BFC95C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52EA11-05E4-3E87-8C1B-5A139F872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8523" y="2635998"/>
            <a:ext cx="3899466" cy="15860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visualization of </a:t>
            </a:r>
          </a:p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21 hand landmarks </a:t>
            </a:r>
          </a:p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gesture recognition.</a:t>
            </a:r>
          </a:p>
          <a:p>
            <a:pPr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71098-CCAB-3151-95EC-DBD32FDBA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0711A-4693-FB9F-7C4D-D9FDD09D8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A07587-6204-9F56-5AFD-12DC1F2EC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06" y="1268134"/>
            <a:ext cx="5303894" cy="48337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374723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hank you ribbon with text&#10;&#10;AI-generated content may be incorrect.">
            <a:extLst>
              <a:ext uri="{FF2B5EF4-FFF2-40B4-BE49-F238E27FC236}">
                <a16:creationId xmlns:a16="http://schemas.microsoft.com/office/drawing/2014/main" id="{9F175A25-5741-AE9A-A8DD-69F950D08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484" y="891540"/>
            <a:ext cx="6761480" cy="50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3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64C926027775458401FCE9E3C8ECDD" ma:contentTypeVersion="15" ma:contentTypeDescription="Create a new document." ma:contentTypeScope="" ma:versionID="de0535b7e0872edc7da0215ee0d7f726">
  <xsd:schema xmlns:xsd="http://www.w3.org/2001/XMLSchema" xmlns:xs="http://www.w3.org/2001/XMLSchema" xmlns:p="http://schemas.microsoft.com/office/2006/metadata/properties" xmlns:ns3="1d61ddc9-0d90-48b5-a256-ae5c7c7f98d8" xmlns:ns4="ae2d7c3c-01b9-429b-8b48-46f70f62690b" targetNamespace="http://schemas.microsoft.com/office/2006/metadata/properties" ma:root="true" ma:fieldsID="07ae226a3e1ff4e93a31461eb4d54f99" ns3:_="" ns4:_="">
    <xsd:import namespace="1d61ddc9-0d90-48b5-a256-ae5c7c7f98d8"/>
    <xsd:import namespace="ae2d7c3c-01b9-429b-8b48-46f70f62690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61ddc9-0d90-48b5-a256-ae5c7c7f98d8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d7c3c-01b9-429b-8b48-46f70f626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61ddc9-0d90-48b5-a256-ae5c7c7f98d8" xsi:nil="true"/>
  </documentManagement>
</p:properties>
</file>

<file path=customXml/itemProps1.xml><?xml version="1.0" encoding="utf-8"?>
<ds:datastoreItem xmlns:ds="http://schemas.openxmlformats.org/officeDocument/2006/customXml" ds:itemID="{208260A3-A558-48FB-A700-766FCB7C7D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61ddc9-0d90-48b5-a256-ae5c7c7f98d8"/>
    <ds:schemaRef ds:uri="ae2d7c3c-01b9-429b-8b48-46f70f6269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CDAAD7-E10D-498C-AA68-34EDA16A26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113428-0F60-4297-B6BB-2DECA68DDA9F}">
  <ds:schemaRefs>
    <ds:schemaRef ds:uri="http://schemas.microsoft.com/office/2006/documentManagement/types"/>
    <ds:schemaRef ds:uri="1d61ddc9-0d90-48b5-a256-ae5c7c7f98d8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ae2d7c3c-01b9-429b-8b48-46f70f62690b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2072</Words>
  <Application>Microsoft Office PowerPoint</Application>
  <PresentationFormat>Widescreen</PresentationFormat>
  <Paragraphs>173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Bookman Old Style</vt:lpstr>
      <vt:lpstr>Calibri</vt:lpstr>
      <vt:lpstr>Times New Roman</vt:lpstr>
      <vt:lpstr>Office Theme</vt:lpstr>
      <vt:lpstr>PowerPoint Presentation</vt:lpstr>
      <vt:lpstr>Introduction</vt:lpstr>
      <vt:lpstr>Introduction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Problem Statement / Scope of the Project</vt:lpstr>
      <vt:lpstr>Proposed Idea / Solution</vt:lpstr>
      <vt:lpstr>Idea Objectives / Solution as Design Project</vt:lpstr>
      <vt:lpstr>Hardware Requirements</vt:lpstr>
      <vt:lpstr> Software Requirements</vt:lpstr>
      <vt:lpstr>Methodology: The Recognition Pipeline</vt:lpstr>
      <vt:lpstr>Methodology: Model Architecture &amp; Training</vt:lpstr>
      <vt:lpstr> Process Flow</vt:lpstr>
      <vt:lpstr> Proposed Modules</vt:lpstr>
      <vt:lpstr> Proposed Modules (contd.)</vt:lpstr>
      <vt:lpstr> Novelty of the Proposed Idea / Project</vt:lpstr>
      <vt:lpstr> Conclusion</vt:lpstr>
      <vt:lpstr> References  </vt:lpstr>
      <vt:lpstr>Partial Implementation</vt:lpstr>
      <vt:lpstr>Partial Implementation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CHRIS VARGHESE MATHEW</cp:lastModifiedBy>
  <cp:revision>29</cp:revision>
  <cp:lastPrinted>2020-11-26T03:04:06Z</cp:lastPrinted>
  <dcterms:created xsi:type="dcterms:W3CDTF">2008-12-05T06:42:08Z</dcterms:created>
  <dcterms:modified xsi:type="dcterms:W3CDTF">2025-11-12T05:18:47Z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0x0101000464C926027775458401FCE9E3C8ECDD</vt:lpwstr>
  </property>
</Properties>
</file>